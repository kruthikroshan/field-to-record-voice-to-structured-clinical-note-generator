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0B2545"/>
                </a:solidFill>
                <a:latin typeface="+mn-lt"/>
              </a:rPr>
              <a:t>Growth Trend of EMS Software Market (USD 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Future Market Report</c:v>
                </c:pt>
              </c:strCache>
            </c:strRef>
          </c:tx>
          <c:spPr>
            <a:solidFill>
              <a:srgbClr val="0F6B63"/>
            </a:solidFill>
            <a:ln w="25400" cap="flat">
              <a:solidFill>
                <a:srgbClr val="0F6B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6B63"/>
              </a:solidFill>
              <a:ln w="9525" cap="flat">
                <a:solidFill>
                  <a:srgbClr val="0F6B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0.65</c:v>
                </c:pt>
                <c:pt idx="1">
                  <c:v>0.71</c:v>
                </c:pt>
                <c:pt idx="2">
                  <c:v>0.78</c:v>
                </c:pt>
                <c:pt idx="3">
                  <c:v>0.86</c:v>
                </c:pt>
                <c:pt idx="4">
                  <c:v>0.94</c:v>
                </c:pt>
                <c:pt idx="5">
                  <c:v>1.03</c:v>
                </c:pt>
                <c:pt idx="6">
                  <c:v>1.13</c:v>
                </c:pt>
                <c:pt idx="7">
                  <c:v>1.24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PMR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1.65</c:v>
                </c:pt>
                <c:pt idx="1">
                  <c:v>1.86</c:v>
                </c:pt>
                <c:pt idx="2">
                  <c:v>2.1</c:v>
                </c:pt>
                <c:pt idx="3">
                  <c:v>2.37</c:v>
                </c:pt>
                <c:pt idx="4">
                  <c:v>2.68</c:v>
                </c:pt>
                <c:pt idx="5">
                  <c:v>3.02</c:v>
                </c:pt>
                <c:pt idx="6">
                  <c:v>3.41</c:v>
                </c:pt>
                <c:pt idx="7">
                  <c:v>3.85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values are interpolated from each report base-year size and CAGR (Future Market Report: $650.75M in 2025, 9.71% CAGR; PMR: ePCR $714.73M = 43.32% share of 2025, implying ~$1.65B total, 12.85% CAGR). PoC accuracy numbers are targets, not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FieldScribe: Offline Voice-to-Structured Clinical Note Generator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78308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To convert a first responder's spoken or typed on-scene notes into a structured, timestamped record of medications and procedures administered, working fully offline, as the first link in an audit chain.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74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Need/Opportunity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713232"/>
            <a:ext cx="4114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</a:rPr>
              <a:t>Offline-first capture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 via on-device ASR + NER, for 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374151"/>
                </a:solidFill>
              </a:rPr>
              <a:t>remote and no-network scenes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</a:rPr>
              <a:t>Structured clinical records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 in FHIR-lite JSON, for 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374151"/>
                </a:solidFill>
              </a:rPr>
              <a:t>interoperability with hospital systems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</a:rPr>
              <a:t>Tamper-evident audit chain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 with timestamped, SHA-256 hash-linked entries, for 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374151"/>
                </a:solidFill>
              </a:rPr>
              <a:t>accountability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</a:rPr>
              <a:t>Medication safety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 through dose-range checks and confidence flags, for 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374151"/>
                </a:solidFill>
              </a:rPr>
              <a:t>fewer documentation errors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0B2545"/>
                </a:solidFill>
              </a:rPr>
              <a:t>Low-cost, privacy-first edge deployment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 using open-source models and </a:t>
            </a:r>
            <a:pPr indent="0" marL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374151"/>
                </a:solidFill>
              </a:rPr>
              <a:t>de-identified or synthetic data only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417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Segment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8470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15400" y="1810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Ambulance &amp; EMS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(public and private operators)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15400" y="22677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Disaster Response &amp; Military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(austere, high-stress field care)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6148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27249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Remote Clinics &amp; Industrial Sites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(mining, oil &amp; gas, rural health)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21868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15400" y="31821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Hospitals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(ED handover, medico-legal teams)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320040" y="3337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Size and Growth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3703320"/>
          <a:ext cx="36118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320040" y="5715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9.71% CAGR (2025-2033) by Future Market Report and 12.85% CAGR (2025-2032) by PMR; ePCR is the largest segment (~43% of 2025 revenue).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3276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* ASR: Automatic Speech Recognition; NER: Named Entity Recognition; FHIR: Fast Healthcare Interoperability Resources; ePCR: electronic Patient Care Report; PHI: Protected Health Information; CAGR: Compound Annual Growth Rate; MVP: Minimum Viable Product. Chart values interpolated from each report's base-year size and CAGR.</a:t>
            </a:r>
            <a:endParaRPr lang="en-US" sz="850" dirty="0"/>
          </a:p>
        </p:txBody>
      </p:sp>
      <p:sp>
        <p:nvSpPr>
          <p:cNvPr id="20" name="Text 13"/>
          <p:cNvSpPr txBox="1"/>
          <p:nvPr/>
        </p:nvSpPr>
        <p:spPr>
          <a:xfrm>
            <a:off x="397764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Readiness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703320"/>
            <a:ext cx="7863840" cy="1005840"/>
          </a:xfrm>
          <a:prstGeom prst="rect">
            <a:avLst/>
          </a:prstGeom>
        </p:spPr>
      </p:pic>
      <p:sp>
        <p:nvSpPr>
          <p:cNvPr id="22" name="Pin 1"/>
          <p:cNvSpPr/>
          <p:nvPr/>
        </p:nvSpPr>
        <p:spPr>
          <a:xfrm>
            <a:off x="4581144" y="376428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B63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581144" y="3764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3995928" y="484632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Research &amp; Planning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Study ePCR workflows; finalize NER schema, datasets, architecture and UI wireframes.</a:t>
            </a:r>
            <a:endParaRPr lang="en-US" sz="1000" dirty="0"/>
          </a:p>
        </p:txBody>
      </p:sp>
      <p:sp>
        <p:nvSpPr>
          <p:cNvPr id="25" name="Pin 2"/>
          <p:cNvSpPr/>
          <p:nvPr/>
        </p:nvSpPr>
        <p:spPr>
          <a:xfrm>
            <a:off x="6153912" y="42824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6D80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153912" y="4282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568696" y="484632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MVP 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Offline ASR + NER, FHIR-lite JSON, PDF note and a confirm-and-edit app.</a:t>
            </a:r>
            <a:endParaRPr lang="en-US" sz="1000" dirty="0"/>
          </a:p>
        </p:txBody>
      </p:sp>
      <p:sp>
        <p:nvSpPr>
          <p:cNvPr id="28" name="Pin 3"/>
          <p:cNvSpPr/>
          <p:nvPr/>
        </p:nvSpPr>
        <p:spPr>
          <a:xfrm>
            <a:off x="7726680" y="376428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B6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726680" y="3764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141464" y="484632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Pilot &amp; Refinement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Test with EMS volunteers and simulated scenes; tune accuracy, noise handling, UX.</a:t>
            </a:r>
            <a:endParaRPr lang="en-US" sz="1000" dirty="0"/>
          </a:p>
        </p:txBody>
      </p:sp>
      <p:sp>
        <p:nvSpPr>
          <p:cNvPr id="31" name="Pin 4"/>
          <p:cNvSpPr/>
          <p:nvPr/>
        </p:nvSpPr>
        <p:spPr>
          <a:xfrm>
            <a:off x="9299448" y="42824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6D80F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299448" y="4282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714232" y="484632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Integration &amp; 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FHIR API to hospital EHR, audit-chain ledger, Hindi/Telugu code-mixed speech.</a:t>
            </a:r>
            <a:endParaRPr lang="en-US" sz="1000" dirty="0"/>
          </a:p>
        </p:txBody>
      </p:sp>
      <p:sp>
        <p:nvSpPr>
          <p:cNvPr id="34" name="Pin 5"/>
          <p:cNvSpPr/>
          <p:nvPr/>
        </p:nvSpPr>
        <p:spPr>
          <a:xfrm>
            <a:off x="10872216" y="376428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B63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0872216" y="3764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0287000" y="484632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Launch &amp; Expansion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Pilot with ambulance services and hospitals; expand to military, disaster relief, nursing handover.</a:t>
            </a:r>
            <a:endParaRPr lang="en-US" sz="1000" dirty="0"/>
          </a:p>
        </p:txBody>
      </p:sp>
      <p:sp>
        <p:nvSpPr>
          <p:cNvPr id="37" name="Team box"/>
          <p:cNvSpPr/>
          <p:nvPr/>
        </p:nvSpPr>
        <p:spPr>
          <a:xfrm>
            <a:off x="8412480" y="182880"/>
            <a:ext cx="34747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B63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503920" y="219456"/>
            <a:ext cx="3291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Name: </a:t>
            </a:r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Codecrafters</a:t>
            </a:r>
            <a:endParaRPr lang="en-US" sz="13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Members: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1) Ojha Architha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2) Adina Isran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3) Godishala Kruthik Roshan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Details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B2545"/>
                </a:solidFill>
              </a:rPr>
              <a:t>Streamlined Field Documentation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</a:rPr>
              <a:t> - speech or text to structured record in seconds, no after-the-fact paperwork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B2545"/>
                </a:solidFill>
              </a:rPr>
              <a:t>Automated Audit Trail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</a:rPr>
              <a:t> - timestamped, hash-linked entries from the first dose given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B2545"/>
                </a:solidFill>
              </a:rPr>
              <a:t>Scalable + Cost-Effective: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</a:rPr>
              <a:t> open-source edge models, microservice sync layer on Kubernetes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Selling Proposition</a:t>
            </a:r>
            <a:endParaRPr lang="en-US" sz="1600" dirty="0"/>
          </a:p>
        </p:txBody>
      </p:sp>
      <p:sp>
        <p:nvSpPr>
          <p:cNvPr id="5" name="USP card 01"/>
          <p:cNvSpPr/>
          <p:nvPr/>
        </p:nvSpPr>
        <p:spPr>
          <a:xfrm>
            <a:off x="320040" y="26974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6" name="USP num 01"/>
          <p:cNvSpPr/>
          <p:nvPr/>
        </p:nvSpPr>
        <p:spPr>
          <a:xfrm>
            <a:off x="1188720" y="2514600"/>
            <a:ext cx="365760" cy="365760"/>
          </a:xfrm>
          <a:prstGeom prst="ellipse">
            <a:avLst/>
          </a:prstGeom>
          <a:solidFill>
            <a:srgbClr val="0F6B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926080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Offline Edge AI: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29768" y="353872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On-device quantized ASR + NER (Whisper.cpp / Vosk)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Works with zero network; syncs later</a:t>
            </a:r>
            <a:endParaRPr lang="en-US" sz="950" dirty="0"/>
          </a:p>
        </p:txBody>
      </p:sp>
      <p:sp>
        <p:nvSpPr>
          <p:cNvPr id="11" name="USP card 02"/>
          <p:cNvSpPr/>
          <p:nvPr/>
        </p:nvSpPr>
        <p:spPr>
          <a:xfrm>
            <a:off x="2606040" y="26974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12" name="USP num 02"/>
          <p:cNvSpPr/>
          <p:nvPr/>
        </p:nvSpPr>
        <p:spPr>
          <a:xfrm>
            <a:off x="3474720" y="2514600"/>
            <a:ext cx="365760" cy="365760"/>
          </a:xfrm>
          <a:prstGeom prst="ellipse">
            <a:avLst/>
          </a:prstGeom>
          <a:solidFill>
            <a:srgbClr val="0F6B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92608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9748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Clinical NER Engine: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715768" y="353872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Extracts drug, dose, route, procedure,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Handles shorthand like "epi 1 mg IV"</a:t>
            </a:r>
            <a:endParaRPr lang="en-US" sz="950" dirty="0"/>
          </a:p>
        </p:txBody>
      </p:sp>
      <p:sp>
        <p:nvSpPr>
          <p:cNvPr id="17" name="USP card 03"/>
          <p:cNvSpPr/>
          <p:nvPr/>
        </p:nvSpPr>
        <p:spPr>
          <a:xfrm>
            <a:off x="320040" y="45262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18" name="USP num 03"/>
          <p:cNvSpPr/>
          <p:nvPr/>
        </p:nvSpPr>
        <p:spPr>
          <a:xfrm>
            <a:off x="1188720" y="4343400"/>
            <a:ext cx="365760" cy="365760"/>
          </a:xfrm>
          <a:prstGeom prst="ellipse">
            <a:avLst/>
          </a:prstGeom>
          <a:solidFill>
            <a:srgbClr val="0F6B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887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75488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11480" y="5093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Key - Features: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29768" y="536752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Confidence flags + one-tap confirm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FHIR-lite JSON and readable PDF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Hash-linked audit chain</a:t>
            </a:r>
            <a:endParaRPr lang="en-US" sz="950" dirty="0"/>
          </a:p>
        </p:txBody>
      </p:sp>
      <p:sp>
        <p:nvSpPr>
          <p:cNvPr id="23" name="USP card 04"/>
          <p:cNvSpPr/>
          <p:nvPr/>
        </p:nvSpPr>
        <p:spPr>
          <a:xfrm>
            <a:off x="2606040" y="45262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24" name="USP num 04"/>
          <p:cNvSpPr/>
          <p:nvPr/>
        </p:nvSpPr>
        <p:spPr>
          <a:xfrm>
            <a:off x="3474720" y="4343400"/>
            <a:ext cx="365760" cy="365760"/>
          </a:xfrm>
          <a:prstGeom prst="ellipse">
            <a:avLst/>
          </a:prstGeom>
          <a:solidFill>
            <a:srgbClr val="0F6B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4747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475488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697480" y="5093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Benefits: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2715768" y="536752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Fewer medication errors, faster handover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Privacy by design: no real PHI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Runs on a mid-range phone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320040" y="6382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</a:rPr>
              <a:t>Key features and unique benefits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937760" y="274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31" name="PoC ring 1"/>
          <p:cNvSpPr/>
          <p:nvPr/>
        </p:nvSpPr>
        <p:spPr>
          <a:xfrm>
            <a:off x="5065776" y="713232"/>
            <a:ext cx="1133856" cy="113385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F6B6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042416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983480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Voice / Text Capture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Responder dictates or types scene notes; offline ASR transcribes on the device.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54496" y="1280160"/>
            <a:ext cx="146304" cy="0"/>
          </a:xfrm>
          <a:prstGeom prst="line">
            <a:avLst/>
          </a:prstGeom>
          <a:noFill/>
          <a:ln w="1905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35" name="PoC ring 2"/>
          <p:cNvSpPr/>
          <p:nvPr/>
        </p:nvSpPr>
        <p:spPr>
          <a:xfrm>
            <a:off x="6455664" y="713232"/>
            <a:ext cx="1133856" cy="113385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A6D80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1042416"/>
            <a:ext cx="475488" cy="4754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373368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Entity 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Clinical NER tags drug, dose, route, procedure and time; normalizes names.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7644384" y="1280160"/>
            <a:ext cx="146304" cy="0"/>
          </a:xfrm>
          <a:prstGeom prst="line">
            <a:avLst/>
          </a:prstGeom>
          <a:noFill/>
          <a:ln w="1905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39" name="PoC ring 3"/>
          <p:cNvSpPr/>
          <p:nvPr/>
        </p:nvSpPr>
        <p:spPr>
          <a:xfrm>
            <a:off x="7845552" y="713232"/>
            <a:ext cx="1133856" cy="113385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F6B6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36" y="1042416"/>
            <a:ext cx="475488" cy="47548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763256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Dose-range rules and confidence scores flag doubts; one-tap confirm.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9034272" y="1280160"/>
            <a:ext cx="146304" cy="0"/>
          </a:xfrm>
          <a:prstGeom prst="line">
            <a:avLst/>
          </a:prstGeom>
          <a:noFill/>
          <a:ln w="1905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43" name="PoC ring 4"/>
          <p:cNvSpPr/>
          <p:nvPr/>
        </p:nvSpPr>
        <p:spPr>
          <a:xfrm>
            <a:off x="9235440" y="713232"/>
            <a:ext cx="1133856" cy="113385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A6D80F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4624" y="1042416"/>
            <a:ext cx="475488" cy="47548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153144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Structured Record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FHIR-lite JSON, timestamped and SHA-256 hash-linked to the prior entry.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10424160" y="1280160"/>
            <a:ext cx="146304" cy="0"/>
          </a:xfrm>
          <a:prstGeom prst="line">
            <a:avLst/>
          </a:prstGeom>
          <a:noFill/>
          <a:ln w="1905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47" name="PoC ring 5"/>
          <p:cNvSpPr/>
          <p:nvPr/>
        </p:nvSpPr>
        <p:spPr>
          <a:xfrm>
            <a:off x="10625328" y="713232"/>
            <a:ext cx="1133856" cy="113385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F6B63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512" y="1042416"/>
            <a:ext cx="475488" cy="475488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0543032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Document &amp; Sync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Readable PDF note; auto-sync to hospital system when network returns.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4937760" y="3154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PoC targets: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entity F1 ≥ 0.85 | note ready in &lt; 5 s on CPU | zero network calls | data: de-identified n2c2 notes + self-recorded synthetic dictations</a:t>
            </a:r>
            <a:endParaRPr lang="en-US" sz="1050" dirty="0"/>
          </a:p>
        </p:txBody>
      </p:sp>
      <p:sp>
        <p:nvSpPr>
          <p:cNvPr id="51" name="Use case frame"/>
          <p:cNvSpPr/>
          <p:nvPr/>
        </p:nvSpPr>
        <p:spPr>
          <a:xfrm>
            <a:off x="4937760" y="3566160"/>
            <a:ext cx="4389120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52" name="UC Dictate / Type Note"/>
          <p:cNvSpPr/>
          <p:nvPr/>
        </p:nvSpPr>
        <p:spPr>
          <a:xfrm>
            <a:off x="5897880" y="5495544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5897880" y="5495544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Dictate / Type Note</a:t>
            </a:r>
            <a:endParaRPr lang="en-US" sz="950" dirty="0"/>
          </a:p>
        </p:txBody>
      </p:sp>
      <p:sp>
        <p:nvSpPr>
          <p:cNvPr id="54" name="UC Offline Transcribe"/>
          <p:cNvSpPr/>
          <p:nvPr/>
        </p:nvSpPr>
        <p:spPr>
          <a:xfrm>
            <a:off x="5897880" y="4928616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5897880" y="4928616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Offline Transcribe</a:t>
            </a:r>
            <a:endParaRPr lang="en-US" sz="950" dirty="0"/>
          </a:p>
        </p:txBody>
      </p:sp>
      <p:sp>
        <p:nvSpPr>
          <p:cNvPr id="56" name="UC Extract Meds &amp; Procedures"/>
          <p:cNvSpPr/>
          <p:nvPr/>
        </p:nvSpPr>
        <p:spPr>
          <a:xfrm>
            <a:off x="5897880" y="4361688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589788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Extract Meds &amp; Procedures</a:t>
            </a:r>
            <a:endParaRPr lang="en-US" sz="950" dirty="0"/>
          </a:p>
        </p:txBody>
      </p:sp>
      <p:sp>
        <p:nvSpPr>
          <p:cNvPr id="58" name="UC Confirm / Edit Flags"/>
          <p:cNvSpPr/>
          <p:nvPr/>
        </p:nvSpPr>
        <p:spPr>
          <a:xfrm>
            <a:off x="5897880" y="3794760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58978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Confirm / Edit Flags</a:t>
            </a:r>
            <a:endParaRPr lang="en-US" sz="950" dirty="0"/>
          </a:p>
        </p:txBody>
      </p:sp>
      <p:sp>
        <p:nvSpPr>
          <p:cNvPr id="60" name="UC Create FHIR Record"/>
          <p:cNvSpPr/>
          <p:nvPr/>
        </p:nvSpPr>
        <p:spPr>
          <a:xfrm>
            <a:off x="7269480" y="3794760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72694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Create FHIR Record</a:t>
            </a:r>
            <a:endParaRPr lang="en-US" sz="950" dirty="0"/>
          </a:p>
        </p:txBody>
      </p:sp>
      <p:sp>
        <p:nvSpPr>
          <p:cNvPr id="62" name="UC Generate PDF Note"/>
          <p:cNvSpPr/>
          <p:nvPr/>
        </p:nvSpPr>
        <p:spPr>
          <a:xfrm>
            <a:off x="7269480" y="4361688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726948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Generate PDF Note</a:t>
            </a:r>
            <a:endParaRPr lang="en-US" sz="950" dirty="0"/>
          </a:p>
        </p:txBody>
      </p:sp>
      <p:sp>
        <p:nvSpPr>
          <p:cNvPr id="64" name="UC Sync to Hospital"/>
          <p:cNvSpPr/>
          <p:nvPr/>
        </p:nvSpPr>
        <p:spPr>
          <a:xfrm>
            <a:off x="7269480" y="4928616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7269480" y="4928616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Sync to Hospital</a:t>
            </a:r>
            <a:endParaRPr lang="en-US" sz="950" dirty="0"/>
          </a:p>
        </p:txBody>
      </p:sp>
      <p:sp>
        <p:nvSpPr>
          <p:cNvPr id="66" name="UC Review Audit Chain"/>
          <p:cNvSpPr/>
          <p:nvPr/>
        </p:nvSpPr>
        <p:spPr>
          <a:xfrm>
            <a:off x="7269480" y="5495544"/>
            <a:ext cx="118872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7269480" y="5495544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Review Audit Chain</a:t>
            </a:r>
            <a:endParaRPr lang="en-US" sz="950" dirty="0"/>
          </a:p>
        </p:txBody>
      </p:sp>
      <p:sp>
        <p:nvSpPr>
          <p:cNvPr id="68" name="Shape 57"/>
          <p:cNvSpPr/>
          <p:nvPr/>
        </p:nvSpPr>
        <p:spPr>
          <a:xfrm flipV="1">
            <a:off x="6492240" y="5385816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69" name="Shape 58"/>
          <p:cNvSpPr/>
          <p:nvPr/>
        </p:nvSpPr>
        <p:spPr>
          <a:xfrm flipV="1">
            <a:off x="6492240" y="4818888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0" name="Shape 59"/>
          <p:cNvSpPr/>
          <p:nvPr/>
        </p:nvSpPr>
        <p:spPr>
          <a:xfrm flipV="1">
            <a:off x="6492240" y="4251960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1" name="Shape 60"/>
          <p:cNvSpPr/>
          <p:nvPr/>
        </p:nvSpPr>
        <p:spPr>
          <a:xfrm>
            <a:off x="7086600" y="4023360"/>
            <a:ext cx="182880" cy="0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2" name="Shape 61"/>
          <p:cNvSpPr/>
          <p:nvPr/>
        </p:nvSpPr>
        <p:spPr>
          <a:xfrm>
            <a:off x="7863840" y="4251960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3" name="Shape 62"/>
          <p:cNvSpPr/>
          <p:nvPr/>
        </p:nvSpPr>
        <p:spPr>
          <a:xfrm>
            <a:off x="7863840" y="4818888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4" name="Shape 63"/>
          <p:cNvSpPr/>
          <p:nvPr/>
        </p:nvSpPr>
        <p:spPr>
          <a:xfrm>
            <a:off x="7863840" y="5385816"/>
            <a:ext cx="0" cy="109728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  <a:tailEnd type="triangle"/>
          </a:ln>
        </p:spPr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572000"/>
            <a:ext cx="411480" cy="411480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4983480" y="5001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Responder</a:t>
            </a:r>
            <a:endParaRPr lang="en-US" sz="950" dirty="0"/>
          </a:p>
        </p:txBody>
      </p:sp>
      <p:pic>
        <p:nvPicPr>
          <p:cNvPr id="7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4572000"/>
            <a:ext cx="411480" cy="411480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8595360" y="5001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Supervisor</a:t>
            </a:r>
            <a:endParaRPr lang="en-US" sz="950" dirty="0"/>
          </a:p>
        </p:txBody>
      </p:sp>
      <p:sp>
        <p:nvSpPr>
          <p:cNvPr id="79" name="Shape 66"/>
          <p:cNvSpPr/>
          <p:nvPr/>
        </p:nvSpPr>
        <p:spPr>
          <a:xfrm>
            <a:off x="5486400" y="4754880"/>
            <a:ext cx="411480" cy="969264"/>
          </a:xfrm>
          <a:prstGeom prst="line">
            <a:avLst/>
          </a:prstGeom>
          <a:noFill/>
          <a:ln w="1270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80" name="Shape 67"/>
          <p:cNvSpPr/>
          <p:nvPr/>
        </p:nvSpPr>
        <p:spPr>
          <a:xfrm flipV="1">
            <a:off x="5486400" y="4023360"/>
            <a:ext cx="411480" cy="685800"/>
          </a:xfrm>
          <a:prstGeom prst="line">
            <a:avLst/>
          </a:prstGeom>
          <a:noFill/>
          <a:ln w="12700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81" name="Shape 68"/>
          <p:cNvSpPr/>
          <p:nvPr/>
        </p:nvSpPr>
        <p:spPr>
          <a:xfrm flipH="1">
            <a:off x="8458200" y="4754880"/>
            <a:ext cx="274320" cy="402336"/>
          </a:xfrm>
          <a:prstGeom prst="line">
            <a:avLst/>
          </a:prstGeom>
          <a:noFill/>
          <a:ln w="12700">
            <a:solidFill>
              <a:srgbClr val="A6D80F"/>
            </a:solidFill>
            <a:prstDash val="solid"/>
            <a:tailEnd type="triangle"/>
          </a:ln>
        </p:spPr>
      </p:sp>
      <p:sp>
        <p:nvSpPr>
          <p:cNvPr id="82" name="Shape 69"/>
          <p:cNvSpPr/>
          <p:nvPr/>
        </p:nvSpPr>
        <p:spPr>
          <a:xfrm flipH="1">
            <a:off x="8458200" y="4846320"/>
            <a:ext cx="274320" cy="877824"/>
          </a:xfrm>
          <a:prstGeom prst="line">
            <a:avLst/>
          </a:prstGeom>
          <a:noFill/>
          <a:ln w="12700">
            <a:solidFill>
              <a:srgbClr val="A6D80F"/>
            </a:solidFill>
            <a:prstDash val="solid"/>
            <a:tailEnd type="triangle"/>
          </a:ln>
        </p:spPr>
      </p:sp>
      <p:sp>
        <p:nvSpPr>
          <p:cNvPr id="83" name="Text 70"/>
          <p:cNvSpPr txBox="1"/>
          <p:nvPr/>
        </p:nvSpPr>
        <p:spPr>
          <a:xfrm>
            <a:off x="4937760" y="6382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74151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84" name="Working frame"/>
          <p:cNvSpPr/>
          <p:nvPr/>
        </p:nvSpPr>
        <p:spPr>
          <a:xfrm>
            <a:off x="9509760" y="3566160"/>
            <a:ext cx="2377440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F6B63"/>
            </a:solidFill>
            <a:prstDash val="solid"/>
          </a:ln>
        </p:spPr>
      </p:sp>
      <p:sp>
        <p:nvSpPr>
          <p:cNvPr id="85" name="Work 1"/>
          <p:cNvSpPr/>
          <p:nvPr/>
        </p:nvSpPr>
        <p:spPr>
          <a:xfrm>
            <a:off x="9601200" y="37033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86" name="Text 73"/>
          <p:cNvSpPr txBox="1"/>
          <p:nvPr/>
        </p:nvSpPr>
        <p:spPr>
          <a:xfrm>
            <a:off x="960120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Voice / Text Input</a:t>
            </a:r>
            <a:endParaRPr lang="en-US" sz="950" dirty="0"/>
          </a:p>
        </p:txBody>
      </p:sp>
      <p:sp>
        <p:nvSpPr>
          <p:cNvPr id="87" name="Shape 74"/>
          <p:cNvSpPr/>
          <p:nvPr/>
        </p:nvSpPr>
        <p:spPr>
          <a:xfrm>
            <a:off x="10218420" y="4069080"/>
            <a:ext cx="0" cy="137160"/>
          </a:xfrm>
          <a:prstGeom prst="line">
            <a:avLst/>
          </a:prstGeom>
          <a:noFill/>
          <a:ln w="15875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88" name="Work 2"/>
          <p:cNvSpPr/>
          <p:nvPr/>
        </p:nvSpPr>
        <p:spPr>
          <a:xfrm>
            <a:off x="9601200" y="420624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89" name="Text 76"/>
          <p:cNvSpPr txBox="1"/>
          <p:nvPr/>
        </p:nvSpPr>
        <p:spPr>
          <a:xfrm>
            <a:off x="96012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On-device ASR</a:t>
            </a:r>
            <a:endParaRPr lang="en-US" sz="950" dirty="0"/>
          </a:p>
        </p:txBody>
      </p:sp>
      <p:sp>
        <p:nvSpPr>
          <p:cNvPr id="90" name="Shape 77"/>
          <p:cNvSpPr/>
          <p:nvPr/>
        </p:nvSpPr>
        <p:spPr>
          <a:xfrm>
            <a:off x="10218420" y="4572000"/>
            <a:ext cx="0" cy="137160"/>
          </a:xfrm>
          <a:prstGeom prst="line">
            <a:avLst/>
          </a:prstGeom>
          <a:noFill/>
          <a:ln w="15875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91" name="Work 3"/>
          <p:cNvSpPr/>
          <p:nvPr/>
        </p:nvSpPr>
        <p:spPr>
          <a:xfrm>
            <a:off x="9601200" y="470916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2" name="Text 79"/>
          <p:cNvSpPr txBox="1"/>
          <p:nvPr/>
        </p:nvSpPr>
        <p:spPr>
          <a:xfrm>
            <a:off x="9601200" y="4709160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Clinical NER + Normalizer</a:t>
            </a:r>
            <a:endParaRPr lang="en-US" sz="950" dirty="0"/>
          </a:p>
        </p:txBody>
      </p:sp>
      <p:sp>
        <p:nvSpPr>
          <p:cNvPr id="93" name="Shape 80"/>
          <p:cNvSpPr/>
          <p:nvPr/>
        </p:nvSpPr>
        <p:spPr>
          <a:xfrm>
            <a:off x="10218420" y="5074920"/>
            <a:ext cx="0" cy="137160"/>
          </a:xfrm>
          <a:prstGeom prst="line">
            <a:avLst/>
          </a:prstGeom>
          <a:noFill/>
          <a:ln w="15875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94" name="Work 4"/>
          <p:cNvSpPr/>
          <p:nvPr/>
        </p:nvSpPr>
        <p:spPr>
          <a:xfrm>
            <a:off x="9601200" y="521208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5" name="Text 82"/>
          <p:cNvSpPr txBox="1"/>
          <p:nvPr/>
        </p:nvSpPr>
        <p:spPr>
          <a:xfrm>
            <a:off x="960120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Validator (dose, confidence)</a:t>
            </a:r>
            <a:endParaRPr lang="en-US" sz="950" dirty="0"/>
          </a:p>
        </p:txBody>
      </p:sp>
      <p:sp>
        <p:nvSpPr>
          <p:cNvPr id="96" name="Shape 83"/>
          <p:cNvSpPr/>
          <p:nvPr/>
        </p:nvSpPr>
        <p:spPr>
          <a:xfrm>
            <a:off x="10218420" y="5577840"/>
            <a:ext cx="0" cy="137160"/>
          </a:xfrm>
          <a:prstGeom prst="line">
            <a:avLst/>
          </a:prstGeom>
          <a:noFill/>
          <a:ln w="15875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97" name="Work 5"/>
          <p:cNvSpPr/>
          <p:nvPr/>
        </p:nvSpPr>
        <p:spPr>
          <a:xfrm>
            <a:off x="9601200" y="571500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8" name="Text 85"/>
          <p:cNvSpPr txBox="1"/>
          <p:nvPr/>
        </p:nvSpPr>
        <p:spPr>
          <a:xfrm>
            <a:off x="9601200" y="5715000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FHIR JSON + Hash Chain</a:t>
            </a:r>
            <a:endParaRPr lang="en-US" sz="950" dirty="0"/>
          </a:p>
        </p:txBody>
      </p:sp>
      <p:sp>
        <p:nvSpPr>
          <p:cNvPr id="99" name="PDF box"/>
          <p:cNvSpPr/>
          <p:nvPr/>
        </p:nvSpPr>
        <p:spPr>
          <a:xfrm>
            <a:off x="11109960" y="571500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0" name="Text 87"/>
          <p:cNvSpPr txBox="1"/>
          <p:nvPr/>
        </p:nvSpPr>
        <p:spPr>
          <a:xfrm>
            <a:off x="11109960" y="5715000"/>
            <a:ext cx="640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PDF Note</a:t>
            </a:r>
            <a:endParaRPr lang="en-US" sz="950" dirty="0"/>
          </a:p>
        </p:txBody>
      </p:sp>
      <p:sp>
        <p:nvSpPr>
          <p:cNvPr id="101" name="EHR box"/>
          <p:cNvSpPr/>
          <p:nvPr/>
        </p:nvSpPr>
        <p:spPr>
          <a:xfrm>
            <a:off x="11109960" y="4892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A6D80F"/>
            </a:solidFill>
            <a:prstDash val="solid"/>
          </a:ln>
        </p:spPr>
      </p:sp>
      <p:sp>
        <p:nvSpPr>
          <p:cNvPr id="102" name="Text 89"/>
          <p:cNvSpPr txBox="1"/>
          <p:nvPr/>
        </p:nvSpPr>
        <p:spPr>
          <a:xfrm>
            <a:off x="11109960" y="4892040"/>
            <a:ext cx="640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</a:rPr>
              <a:t>Hospital EHR</a:t>
            </a:r>
            <a:endParaRPr lang="en-US" sz="950" dirty="0"/>
          </a:p>
        </p:txBody>
      </p:sp>
      <p:sp>
        <p:nvSpPr>
          <p:cNvPr id="103" name="Shape 90"/>
          <p:cNvSpPr/>
          <p:nvPr/>
        </p:nvSpPr>
        <p:spPr>
          <a:xfrm>
            <a:off x="10835640" y="5897880"/>
            <a:ext cx="274320" cy="0"/>
          </a:xfrm>
          <a:prstGeom prst="line">
            <a:avLst/>
          </a:prstGeom>
          <a:noFill/>
          <a:ln w="15875">
            <a:solidFill>
              <a:srgbClr val="0F6B63"/>
            </a:solidFill>
            <a:prstDash val="solid"/>
            <a:tailEnd type="triangle"/>
          </a:ln>
        </p:spPr>
      </p:sp>
      <p:sp>
        <p:nvSpPr>
          <p:cNvPr id="104" name="Shape 91"/>
          <p:cNvSpPr/>
          <p:nvPr/>
        </p:nvSpPr>
        <p:spPr>
          <a:xfrm flipV="1">
            <a:off x="11430000" y="5394960"/>
            <a:ext cx="0" cy="320040"/>
          </a:xfrm>
          <a:prstGeom prst="line">
            <a:avLst/>
          </a:prstGeom>
          <a:noFill/>
          <a:ln w="15875">
            <a:solidFill>
              <a:srgbClr val="A6D80F"/>
            </a:solidFill>
            <a:prstDash val="solid"/>
            <a:tailEnd type="triangle"/>
          </a:ln>
        </p:spPr>
      </p:sp>
      <p:sp>
        <p:nvSpPr>
          <p:cNvPr id="105" name="Text 92"/>
          <p:cNvSpPr txBox="1"/>
          <p:nvPr/>
        </p:nvSpPr>
        <p:spPr>
          <a:xfrm>
            <a:off x="11064240" y="4526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74151"/>
                </a:solidFill>
              </a:rPr>
              <a:t>sync when online</a:t>
            </a:r>
            <a:endParaRPr lang="en-US" sz="900" dirty="0"/>
          </a:p>
        </p:txBody>
      </p:sp>
      <p:sp>
        <p:nvSpPr>
          <p:cNvPr id="106" name="Text 93"/>
          <p:cNvSpPr txBox="1"/>
          <p:nvPr/>
        </p:nvSpPr>
        <p:spPr>
          <a:xfrm>
            <a:off x="9509760" y="6382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74151"/>
                </a:solidFill>
              </a:rPr>
              <a:t>Working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2026-10-25T15:12:08Z</dcterms:created>
  <dcterms:modified xsi:type="dcterms:W3CDTF">2026-10-25T15:12:08Z</dcterms:modified>
</cp:coreProperties>
</file>